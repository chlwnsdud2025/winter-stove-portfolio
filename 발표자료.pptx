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0" r:id="rId4"/>
    <p:sldId id="261" r:id="rId5"/>
    <p:sldId id="258" r:id="rId6"/>
    <p:sldId id="270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98AF"/>
    <a:srgbClr val="48A4F7"/>
    <a:srgbClr val="526980"/>
    <a:srgbClr val="B2E1FB"/>
    <a:srgbClr val="B2E1F9"/>
    <a:srgbClr val="326AFF"/>
    <a:srgbClr val="41719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37" autoAdjust="0"/>
  </p:normalViewPr>
  <p:slideViewPr>
    <p:cSldViewPr snapToGrid="0">
      <p:cViewPr>
        <p:scale>
          <a:sx n="100" d="100"/>
          <a:sy n="100" d="100"/>
        </p:scale>
        <p:origin x="9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5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47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84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15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5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11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72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6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05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13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9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BF473-3AE2-4F16-ADCB-A8E9EE144364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42B52-D2B9-4985-8241-2848426D43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205288" y="2147708"/>
            <a:ext cx="1781424" cy="2562583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131805" y="1062081"/>
            <a:ext cx="11928390" cy="56593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4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746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528269" y="6100361"/>
            <a:ext cx="5663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dirty="0" err="1" smtClean="0">
                <a:solidFill>
                  <a:schemeClr val="bg2">
                    <a:lumMod val="75000"/>
                  </a:schemeClr>
                </a:solidFill>
              </a:rPr>
              <a:t>MetaQuest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. 2026.06.05. ~ 2026.06.21.</a:t>
            </a:r>
          </a:p>
          <a:p>
            <a:pPr algn="r"/>
            <a:r>
              <a:rPr lang="ko-KR" altLang="en-US" dirty="0" err="1" smtClean="0">
                <a:solidFill>
                  <a:schemeClr val="bg2">
                    <a:lumMod val="75000"/>
                  </a:schemeClr>
                </a:solidFill>
              </a:rPr>
              <a:t>디벨로켓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ko-KR" altLang="en-US" dirty="0" err="1" smtClean="0">
                <a:solidFill>
                  <a:schemeClr val="bg2">
                    <a:lumMod val="75000"/>
                  </a:schemeClr>
                </a:solidFill>
              </a:rPr>
              <a:t>메플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13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기 </a:t>
            </a:r>
            <a:r>
              <a:rPr lang="ko-KR" altLang="en-US" dirty="0" err="1" smtClean="0">
                <a:solidFill>
                  <a:schemeClr val="bg2">
                    <a:lumMod val="75000"/>
                  </a:schemeClr>
                </a:solidFill>
              </a:rPr>
              <a:t>클로버단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chemeClr val="bg2">
                    <a:lumMod val="75000"/>
                  </a:schemeClr>
                </a:solidFill>
              </a:rPr>
              <a:t>– </a:t>
            </a:r>
            <a:r>
              <a:rPr lang="ko-KR" altLang="en-US" dirty="0" err="1" smtClean="0">
                <a:solidFill>
                  <a:schemeClr val="bg2">
                    <a:lumMod val="75000"/>
                  </a:schemeClr>
                </a:solidFill>
              </a:rPr>
              <a:t>김용오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ko-KR" altLang="en-US" dirty="0" err="1" smtClean="0">
                <a:solidFill>
                  <a:schemeClr val="bg2">
                    <a:lumMod val="75000"/>
                  </a:schemeClr>
                </a:solidFill>
              </a:rPr>
              <a:t>정창우</a:t>
            </a:r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 최준영</a:t>
            </a:r>
            <a:endParaRPr lang="en-US" altLang="ko-K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261927" y="2642749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Winter Stove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528637" y="733425"/>
            <a:ext cx="2409825" cy="628650"/>
            <a:chOff x="528637" y="733425"/>
            <a:chExt cx="2409825" cy="628650"/>
          </a:xfrm>
        </p:grpSpPr>
        <p:sp>
          <p:nvSpPr>
            <p:cNvPr id="7" name="타원 6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8705394" y="3244756"/>
            <a:ext cx="2409825" cy="628650"/>
            <a:chOff x="528637" y="733425"/>
            <a:chExt cx="2409825" cy="628650"/>
          </a:xfrm>
        </p:grpSpPr>
        <p:sp>
          <p:nvSpPr>
            <p:cNvPr id="13" name="타원 12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071562" y="2763745"/>
            <a:ext cx="2409825" cy="628650"/>
            <a:chOff x="528637" y="733425"/>
            <a:chExt cx="2409825" cy="628650"/>
          </a:xfrm>
        </p:grpSpPr>
        <p:sp>
          <p:nvSpPr>
            <p:cNvPr id="18" name="타원 17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510086" y="860140"/>
            <a:ext cx="2409825" cy="628650"/>
            <a:chOff x="528637" y="733425"/>
            <a:chExt cx="2409825" cy="628650"/>
          </a:xfrm>
        </p:grpSpPr>
        <p:sp>
          <p:nvSpPr>
            <p:cNvPr id="23" name="타원 22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8062229" y="2075782"/>
            <a:ext cx="2409825" cy="628650"/>
            <a:chOff x="528637" y="733425"/>
            <a:chExt cx="2409825" cy="628650"/>
          </a:xfrm>
        </p:grpSpPr>
        <p:sp>
          <p:nvSpPr>
            <p:cNvPr id="28" name="타원 27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2047875" y="1662860"/>
            <a:ext cx="2409825" cy="628650"/>
            <a:chOff x="528637" y="733425"/>
            <a:chExt cx="2409825" cy="628650"/>
          </a:xfrm>
        </p:grpSpPr>
        <p:sp>
          <p:nvSpPr>
            <p:cNvPr id="33" name="타원 32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57300" y="4378979"/>
            <a:ext cx="2409825" cy="628650"/>
            <a:chOff x="528637" y="733425"/>
            <a:chExt cx="2409825" cy="628650"/>
          </a:xfrm>
        </p:grpSpPr>
        <p:sp>
          <p:nvSpPr>
            <p:cNvPr id="38" name="타원 37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4802981" y="4256069"/>
            <a:ext cx="2409825" cy="628650"/>
            <a:chOff x="528637" y="733425"/>
            <a:chExt cx="2409825" cy="628650"/>
          </a:xfrm>
        </p:grpSpPr>
        <p:sp>
          <p:nvSpPr>
            <p:cNvPr id="43" name="타원 42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780734" y="4655162"/>
            <a:ext cx="2409825" cy="628650"/>
            <a:chOff x="528637" y="733425"/>
            <a:chExt cx="2409825" cy="628650"/>
          </a:xfrm>
        </p:grpSpPr>
        <p:sp>
          <p:nvSpPr>
            <p:cNvPr id="48" name="타원 47"/>
            <p:cNvSpPr/>
            <p:nvPr/>
          </p:nvSpPr>
          <p:spPr>
            <a:xfrm>
              <a:off x="942975" y="733425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/>
            <p:cNvSpPr/>
            <p:nvPr/>
          </p:nvSpPr>
          <p:spPr>
            <a:xfrm>
              <a:off x="1343025" y="1200150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/>
            <p:cNvSpPr/>
            <p:nvPr/>
          </p:nvSpPr>
          <p:spPr>
            <a:xfrm>
              <a:off x="528637" y="1119187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/>
            <p:cNvSpPr/>
            <p:nvPr/>
          </p:nvSpPr>
          <p:spPr>
            <a:xfrm>
              <a:off x="2776537" y="766762"/>
              <a:ext cx="161925" cy="1619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3" name="그림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5" y="6037557"/>
            <a:ext cx="943479" cy="77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개요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4777" y="1382542"/>
            <a:ext cx="1024448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제목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619249" y="1382542"/>
            <a:ext cx="3302717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Winter Stove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94777" y="2467209"/>
            <a:ext cx="1024448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장르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619250" y="3581436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아늑함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94777" y="3610997"/>
            <a:ext cx="1024448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컨셉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619249" y="2467209"/>
            <a:ext cx="3302717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VR </a:t>
            </a:r>
            <a:r>
              <a:rPr lang="ko-KR" altLang="en-US" sz="1400" dirty="0" smtClean="0">
                <a:solidFill>
                  <a:schemeClr val="tx1"/>
                </a:solidFill>
              </a:rPr>
              <a:t>미니게임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370621" y="3581436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힐링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121992" y="3581436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러시아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6873363" y="3581436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겨울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619250" y="4547040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작은 방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3370621" y="4547040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따듯함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121992" y="4547040"/>
            <a:ext cx="1551346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재미</a:t>
            </a:r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76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주요 </a:t>
            </a:r>
            <a:r>
              <a:rPr lang="ko-KR" altLang="en-US" sz="3200" dirty="0" err="1" smtClean="0">
                <a:solidFill>
                  <a:schemeClr val="bg1"/>
                </a:solidFill>
              </a:rPr>
              <a:t>피쳐</a:t>
            </a:r>
            <a:r>
              <a:rPr lang="ko-KR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ko-KR" sz="3200" dirty="0" smtClean="0">
                <a:solidFill>
                  <a:schemeClr val="bg1"/>
                </a:solidFill>
              </a:rPr>
              <a:t>| 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94777" y="1677817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상호작용 가능한 오브젝트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823776" y="1677817"/>
            <a:ext cx="8000794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젠가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다트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장작 넣기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설거지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고양이 잡기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그림 그리기</a:t>
            </a:r>
            <a:r>
              <a:rPr lang="en-US" altLang="ko-KR" sz="1400" dirty="0" smtClean="0">
                <a:solidFill>
                  <a:schemeClr val="tx1"/>
                </a:solidFill>
              </a:rPr>
              <a:t>, TV </a:t>
            </a:r>
            <a:r>
              <a:rPr lang="ko-KR" altLang="en-US" sz="1400" dirty="0" smtClean="0">
                <a:solidFill>
                  <a:schemeClr val="tx1"/>
                </a:solidFill>
              </a:rPr>
              <a:t>보기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옷 갈아입기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자판기에서 음료 랜덤 뽑기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카드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샌드백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쓰레기 던지기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물 뿌리기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술 마시기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총 쏘기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사격 미니게임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94777" y="2643421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주기적으로 발생하는 이벤트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23776" y="2643421"/>
            <a:ext cx="8000794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핵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라디오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난로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식물 시듦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낮밤</a:t>
            </a:r>
            <a:r>
              <a:rPr lang="ko-KR" altLang="en-US" sz="1400" dirty="0" smtClean="0">
                <a:solidFill>
                  <a:schemeClr val="tx1"/>
                </a:solidFill>
              </a:rPr>
              <a:t> 전환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퀘스트 갱신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394777" y="3613903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캐릭터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823776" y="3613903"/>
            <a:ext cx="8000794" cy="81486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캐릭터 모델 교체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리깅</a:t>
            </a:r>
            <a:r>
              <a:rPr lang="ko-KR" altLang="en-US" sz="1400" dirty="0" smtClean="0">
                <a:solidFill>
                  <a:schemeClr val="tx1"/>
                </a:solidFill>
              </a:rPr>
              <a:t> 및 손가락 관절 디테일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구현 현황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04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585278" y="1561552"/>
            <a:ext cx="2938060" cy="70588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김용오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274463" y="1561552"/>
            <a:ext cx="2938060" cy="70588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최준영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932062" y="1561552"/>
            <a:ext cx="2938060" cy="705884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정창우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94777" y="2214087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주기 이벤트 프레임워크 구축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75565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4083962" y="2214087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다트 판정 개선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083962" y="3153426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그림 그리기 인식 알고리즘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7741561" y="2214087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아바타</a:t>
            </a:r>
            <a:r>
              <a:rPr lang="ko-KR" altLang="en-US" dirty="0" smtClean="0">
                <a:solidFill>
                  <a:schemeClr val="bg1"/>
                </a:solidFill>
              </a:rPr>
              <a:t> 손가락 움직임 디테일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741561" y="3153426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캐릭터 교체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741561" y="4092765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에셋</a:t>
            </a:r>
            <a:r>
              <a:rPr lang="ko-KR" altLang="en-US" dirty="0" smtClean="0">
                <a:solidFill>
                  <a:schemeClr val="bg1"/>
                </a:solidFill>
              </a:rPr>
              <a:t> 확보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목차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94777" y="3153426"/>
            <a:ext cx="3319062" cy="81486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게임 목표 부여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0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주기 이벤트 프레임 워크 구축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797472" y="1732576"/>
            <a:ext cx="2899228" cy="9486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라디오는 </a:t>
            </a:r>
            <a:r>
              <a:rPr lang="en-US" altLang="ko-KR" sz="1400" dirty="0" smtClean="0">
                <a:solidFill>
                  <a:schemeClr val="tx1"/>
                </a:solidFill>
              </a:rPr>
              <a:t>50%</a:t>
            </a:r>
            <a:r>
              <a:rPr lang="ko-KR" altLang="en-US" sz="1400" dirty="0" smtClean="0">
                <a:solidFill>
                  <a:schemeClr val="tx1"/>
                </a:solidFill>
              </a:rPr>
              <a:t>확률로 재생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최초 </a:t>
            </a:r>
            <a:r>
              <a:rPr lang="en-US" altLang="ko-KR" sz="1400" dirty="0" smtClean="0">
                <a:solidFill>
                  <a:schemeClr val="tx1"/>
                </a:solidFill>
              </a:rPr>
              <a:t>40</a:t>
            </a:r>
            <a:r>
              <a:rPr lang="ko-KR" altLang="en-US" sz="1400" dirty="0" smtClean="0">
                <a:solidFill>
                  <a:schemeClr val="tx1"/>
                </a:solidFill>
              </a:rPr>
              <a:t>초가 지나고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재생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이후 </a:t>
            </a:r>
            <a:r>
              <a:rPr lang="en-US" altLang="ko-KR" sz="1400" dirty="0" smtClean="0">
                <a:solidFill>
                  <a:schemeClr val="tx1"/>
                </a:solidFill>
              </a:rPr>
              <a:t>20</a:t>
            </a:r>
            <a:r>
              <a:rPr lang="ko-KR" altLang="en-US" sz="1400" dirty="0" smtClean="0">
                <a:solidFill>
                  <a:schemeClr val="tx1"/>
                </a:solidFill>
              </a:rPr>
              <a:t>초마다 재생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데이터 정의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85277" y="2246927"/>
            <a:ext cx="2938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smtClean="0"/>
              <a:t>조건</a:t>
            </a:r>
            <a:r>
              <a:rPr lang="ko-KR" altLang="en-US" sz="1400" dirty="0" smtClean="0"/>
              <a:t>을 만족하면 </a:t>
            </a:r>
            <a:r>
              <a:rPr lang="ko-KR" altLang="en-US" sz="1400" b="1" dirty="0" smtClean="0"/>
              <a:t>주기</a:t>
            </a:r>
            <a:r>
              <a:rPr lang="ko-KR" altLang="en-US" sz="1400" dirty="0" smtClean="0"/>
              <a:t>마다 </a:t>
            </a:r>
            <a:endParaRPr lang="en-US" altLang="ko-KR" sz="1400" dirty="0" smtClean="0"/>
          </a:p>
          <a:p>
            <a:pPr algn="ctr"/>
            <a:r>
              <a:rPr lang="ko-KR" altLang="en-US" sz="1400" b="1" dirty="0" smtClean="0"/>
              <a:t>정해진 확률</a:t>
            </a:r>
            <a:r>
              <a:rPr lang="ko-KR" altLang="en-US" sz="1400" dirty="0" smtClean="0"/>
              <a:t>로 </a:t>
            </a:r>
            <a:r>
              <a:rPr lang="ko-KR" altLang="en-US" sz="1400" b="1" dirty="0" smtClean="0"/>
              <a:t>사건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발생</a:t>
            </a:r>
            <a:endParaRPr lang="ko-KR" altLang="en-US" sz="1400" dirty="0" smtClean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921278" y="3255373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작업 위임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24014" y="3953098"/>
            <a:ext cx="34605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사건을 </a:t>
            </a:r>
            <a:r>
              <a:rPr lang="en-US" altLang="ko-KR" sz="1400" dirty="0" smtClean="0"/>
              <a:t>Invoke </a:t>
            </a:r>
            <a:r>
              <a:rPr lang="ko-KR" altLang="en-US" sz="1400" dirty="0" smtClean="0"/>
              <a:t>하는 것은 부모 클래스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사건의 구체 구현은 자식 </a:t>
            </a:r>
            <a:r>
              <a:rPr lang="ko-KR" altLang="en-US" sz="1400" dirty="0" smtClean="0"/>
              <a:t>클래스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819969" y="3432340"/>
            <a:ext cx="2178956" cy="8361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? </a:t>
            </a:r>
            <a:r>
              <a:rPr lang="ko-KR" altLang="en-US" sz="1400" dirty="0" smtClean="0">
                <a:solidFill>
                  <a:schemeClr val="tx1"/>
                </a:solidFill>
              </a:rPr>
              <a:t>확률로 발생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최초 </a:t>
            </a:r>
            <a:r>
              <a:rPr lang="en-US" altLang="ko-KR" sz="1400" dirty="0" smtClean="0">
                <a:solidFill>
                  <a:schemeClr val="tx1"/>
                </a:solidFill>
              </a:rPr>
              <a:t>?</a:t>
            </a:r>
            <a:r>
              <a:rPr lang="ko-KR" altLang="en-US" sz="1400" dirty="0" smtClean="0">
                <a:solidFill>
                  <a:schemeClr val="tx1"/>
                </a:solidFill>
              </a:rPr>
              <a:t>초가 지나고 발생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이후 </a:t>
            </a:r>
            <a:r>
              <a:rPr lang="en-US" altLang="ko-KR" sz="1400" dirty="0" smtClean="0">
                <a:solidFill>
                  <a:schemeClr val="tx1"/>
                </a:solidFill>
              </a:rPr>
              <a:t>?</a:t>
            </a:r>
            <a:r>
              <a:rPr lang="ko-KR" altLang="en-US" sz="1400" dirty="0" smtClean="0">
                <a:solidFill>
                  <a:schemeClr val="tx1"/>
                </a:solidFill>
              </a:rPr>
              <a:t>초 마다 재생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4098" name="Picture 2" descr="시계 - 무료 여러 가지 잡다한개 아이콘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223" y="3513133"/>
            <a:ext cx="646984" cy="64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V="1">
            <a:off x="7151095" y="2628757"/>
            <a:ext cx="256128" cy="256128"/>
          </a:xfrm>
          <a:prstGeom prst="straightConnector1">
            <a:avLst/>
          </a:prstGeom>
          <a:ln>
            <a:solidFill>
              <a:srgbClr val="8298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7168085" y="4806134"/>
            <a:ext cx="256128" cy="299099"/>
          </a:xfrm>
          <a:prstGeom prst="straightConnector1">
            <a:avLst/>
          </a:prstGeom>
          <a:ln>
            <a:solidFill>
              <a:srgbClr val="8298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>
          <a:xfrm>
            <a:off x="7080266" y="3874004"/>
            <a:ext cx="401182" cy="0"/>
          </a:xfrm>
          <a:prstGeom prst="straightConnector1">
            <a:avLst/>
          </a:prstGeom>
          <a:ln>
            <a:solidFill>
              <a:srgbClr val="8298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8797472" y="3399698"/>
            <a:ext cx="2899228" cy="9486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퀘스트 갱신은 </a:t>
            </a:r>
            <a:r>
              <a:rPr lang="en-US" altLang="ko-KR" sz="1400" dirty="0" smtClean="0">
                <a:solidFill>
                  <a:schemeClr val="tx1"/>
                </a:solidFill>
              </a:rPr>
              <a:t>100</a:t>
            </a:r>
            <a:r>
              <a:rPr lang="en-US" altLang="ko-KR" sz="1400" dirty="0" smtClean="0">
                <a:solidFill>
                  <a:schemeClr val="tx1"/>
                </a:solidFill>
              </a:rPr>
              <a:t>%</a:t>
            </a:r>
            <a:r>
              <a:rPr lang="ko-KR" altLang="en-US" sz="1400" dirty="0" smtClean="0">
                <a:solidFill>
                  <a:schemeClr val="tx1"/>
                </a:solidFill>
              </a:rPr>
              <a:t>확률로 진행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최초 </a:t>
            </a:r>
            <a:r>
              <a:rPr lang="en-US" altLang="ko-KR" sz="1400" dirty="0" smtClean="0">
                <a:solidFill>
                  <a:schemeClr val="tx1"/>
                </a:solidFill>
              </a:rPr>
              <a:t>3</a:t>
            </a:r>
            <a:r>
              <a:rPr lang="ko-KR" altLang="en-US" sz="1400" dirty="0" smtClean="0">
                <a:solidFill>
                  <a:schemeClr val="tx1"/>
                </a:solidFill>
              </a:rPr>
              <a:t>초가 지나고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재생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이후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 smtClean="0">
                <a:solidFill>
                  <a:schemeClr val="tx1"/>
                </a:solidFill>
              </a:rPr>
              <a:t>초마다 재생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8797472" y="5105234"/>
            <a:ext cx="2899228" cy="9486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핵 폭발은 </a:t>
            </a:r>
            <a:r>
              <a:rPr lang="en-US" altLang="ko-KR" sz="1400" dirty="0" smtClean="0">
                <a:solidFill>
                  <a:schemeClr val="tx1"/>
                </a:solidFill>
              </a:rPr>
              <a:t>100</a:t>
            </a:r>
            <a:r>
              <a:rPr lang="en-US" altLang="ko-KR" sz="1400" dirty="0" smtClean="0">
                <a:solidFill>
                  <a:schemeClr val="tx1"/>
                </a:solidFill>
              </a:rPr>
              <a:t>%</a:t>
            </a:r>
            <a:r>
              <a:rPr lang="ko-KR" altLang="en-US" sz="1400" dirty="0" smtClean="0">
                <a:solidFill>
                  <a:schemeClr val="tx1"/>
                </a:solidFill>
              </a:rPr>
              <a:t>확률로 진행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최초 </a:t>
            </a:r>
            <a:r>
              <a:rPr lang="en-US" altLang="ko-KR" sz="1400" dirty="0" smtClean="0">
                <a:solidFill>
                  <a:schemeClr val="tx1"/>
                </a:solidFill>
              </a:rPr>
              <a:t>600</a:t>
            </a:r>
            <a:r>
              <a:rPr lang="ko-KR" altLang="en-US" sz="1400" dirty="0" smtClean="0">
                <a:solidFill>
                  <a:schemeClr val="tx1"/>
                </a:solidFill>
              </a:rPr>
              <a:t>초가 지나고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재생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이후 </a:t>
            </a:r>
            <a:r>
              <a:rPr lang="en-US" altLang="ko-KR" sz="1400" dirty="0" smtClean="0">
                <a:solidFill>
                  <a:schemeClr val="tx1"/>
                </a:solidFill>
              </a:rPr>
              <a:t>1e+12</a:t>
            </a:r>
            <a:r>
              <a:rPr lang="ko-KR" altLang="en-US" sz="1400" dirty="0" smtClean="0">
                <a:solidFill>
                  <a:schemeClr val="tx1"/>
                </a:solidFill>
              </a:rPr>
              <a:t>초마다 재생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4100" name="Picture 4" descr="탐구 - 무료 멀티미디어개 아이콘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32" y="3533300"/>
            <a:ext cx="681408" cy="68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핵 - 무료 교육개 아이콘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406" y="5170710"/>
            <a:ext cx="817659" cy="81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라디오 - 무료 과학 기술개 아이콘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104" y="1778499"/>
            <a:ext cx="789759" cy="78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모서리가 둥근 직사각형 92"/>
          <p:cNvSpPr/>
          <p:nvPr/>
        </p:nvSpPr>
        <p:spPr>
          <a:xfrm>
            <a:off x="585278" y="5567916"/>
            <a:ext cx="2938060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기능 추가 작업 소요 감소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>
            <a:off x="2054307" y="4893808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7842406" y="6273799"/>
            <a:ext cx="41108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1400" dirty="0" smtClean="0">
                <a:solidFill>
                  <a:prstClr val="black"/>
                </a:solidFill>
              </a:rPr>
              <a:t>이외에도</a:t>
            </a:r>
            <a:r>
              <a:rPr lang="en-US" altLang="ko-KR" sz="1400" dirty="0">
                <a:solidFill>
                  <a:prstClr val="black"/>
                </a:solidFill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</a:rPr>
              <a:t>곰 등장</a:t>
            </a:r>
            <a:r>
              <a:rPr lang="en-US" altLang="ko-KR" sz="1400" dirty="0" smtClean="0">
                <a:solidFill>
                  <a:prstClr val="black"/>
                </a:solidFill>
              </a:rPr>
              <a:t>, </a:t>
            </a:r>
            <a:r>
              <a:rPr lang="ko-KR" altLang="en-US" sz="1400" dirty="0" smtClean="0">
                <a:solidFill>
                  <a:prstClr val="black"/>
                </a:solidFill>
              </a:rPr>
              <a:t>식물 시듦</a:t>
            </a:r>
            <a:r>
              <a:rPr lang="en-US" altLang="ko-KR" sz="1400" dirty="0" smtClean="0">
                <a:solidFill>
                  <a:prstClr val="black"/>
                </a:solidFill>
              </a:rPr>
              <a:t>, </a:t>
            </a:r>
            <a:r>
              <a:rPr lang="ko-KR" altLang="en-US" sz="1400" dirty="0" smtClean="0">
                <a:solidFill>
                  <a:prstClr val="black"/>
                </a:solidFill>
              </a:rPr>
              <a:t>낮 밤 전환 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9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게임 목표 부여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32163" y="1549202"/>
            <a:ext cx="2635086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초기 게임 목표 없음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067249" y="1667529"/>
            <a:ext cx="6660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다양한 컨텐츠에 유저가 접근할 수 있도록 하는 가이드 또는 게임의 목표 필요</a:t>
            </a:r>
            <a:endParaRPr lang="ko-KR" altLang="en-US" sz="1400" dirty="0" smtClean="0"/>
          </a:p>
        </p:txBody>
      </p:sp>
      <p:cxnSp>
        <p:nvCxnSpPr>
          <p:cNvPr id="96" name="직선 화살표 연결선 95"/>
          <p:cNvCxnSpPr/>
          <p:nvPr/>
        </p:nvCxnSpPr>
        <p:spPr>
          <a:xfrm>
            <a:off x="481318" y="2632696"/>
            <a:ext cx="510894" cy="0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1314732" y="2368089"/>
            <a:ext cx="3505034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인게임</a:t>
            </a:r>
            <a:r>
              <a:rPr lang="ko-KR" altLang="en-US" dirty="0" smtClean="0">
                <a:solidFill>
                  <a:schemeClr val="bg1"/>
                </a:solidFill>
              </a:rPr>
              <a:t> 요소에 가이드 포함하기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905491" y="2478807"/>
            <a:ext cx="69150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 smtClean="0"/>
              <a:t>튜토리얼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UI</a:t>
            </a:r>
            <a:r>
              <a:rPr lang="ko-KR" altLang="en-US" sz="1400" dirty="0" smtClean="0"/>
              <a:t>보다 세계관에 섞일 수 있는 요소로 가이드 제공</a:t>
            </a:r>
            <a:endParaRPr lang="ko-KR" altLang="en-US" sz="1400" dirty="0" smtClean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481318" y="3413105"/>
            <a:ext cx="510894" cy="0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1314732" y="3140888"/>
            <a:ext cx="3505034" cy="544433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퀘스트로 게임의 목표 제공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905491" y="3259215"/>
            <a:ext cx="69150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퀘스트 수행을 목표로 유저가 다양한 컨텐츠에 접근하도록 설계</a:t>
            </a:r>
            <a:endParaRPr lang="ko-KR" altLang="en-US" sz="1400" dirty="0" smtClean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81318" y="4176052"/>
            <a:ext cx="510894" cy="0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1314732" y="3903835"/>
            <a:ext cx="3505034" cy="544433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라디오로 게임 컨텐츠 소개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905491" y="4022162"/>
            <a:ext cx="69150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라디오가 재생되면 자막으로 대사를 출력</a:t>
            </a:r>
            <a:endParaRPr lang="ko-KR" altLang="en-US" sz="1400" dirty="0" smtClean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81318" y="4938999"/>
            <a:ext cx="510894" cy="0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/>
          <p:cNvSpPr/>
          <p:nvPr/>
        </p:nvSpPr>
        <p:spPr>
          <a:xfrm>
            <a:off x="1314732" y="4666782"/>
            <a:ext cx="3505034" cy="544433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bg1"/>
                </a:solidFill>
              </a:rPr>
              <a:t>시계의 초침으로 </a:t>
            </a:r>
            <a:r>
              <a:rPr lang="ko-KR" altLang="en-US" dirty="0" smtClean="0">
                <a:solidFill>
                  <a:schemeClr val="bg1"/>
                </a:solidFill>
              </a:rPr>
              <a:t>타이머 대체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905491" y="4785109"/>
            <a:ext cx="69150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게임오버까지 남은 시간을 시계 오브젝트로 표현</a:t>
            </a:r>
            <a:endParaRPr lang="ko-KR" altLang="en-US" sz="1400" dirty="0" smtClean="0"/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481318" y="5701945"/>
            <a:ext cx="510894" cy="0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1314731" y="5548056"/>
            <a:ext cx="45336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몰입을 해치지 않는 선에서 가이드를 제공하려 노력</a:t>
            </a:r>
            <a:endParaRPr lang="ko-KR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61507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다트 판정 개선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터널링</a:t>
            </a:r>
            <a:r>
              <a:rPr lang="ko-KR" altLang="en-US" dirty="0" smtClean="0">
                <a:solidFill>
                  <a:schemeClr val="bg1"/>
                </a:solidFill>
              </a:rPr>
              <a:t> 현상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09714" y="2246927"/>
            <a:ext cx="36891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엔진의 프레임 갱신보다 다트 속도가 빨라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다트가 과녁을 통과하는 문제</a:t>
            </a:r>
            <a:endParaRPr lang="en-US" altLang="ko-KR" sz="1400" dirty="0" smtClean="0"/>
          </a:p>
        </p:txBody>
      </p:sp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2054307" y="3038710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585278" y="3730124"/>
            <a:ext cx="2938060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자체 </a:t>
            </a:r>
            <a:r>
              <a:rPr lang="en-US" altLang="ko-KR" dirty="0" smtClean="0">
                <a:solidFill>
                  <a:schemeClr val="bg1"/>
                </a:solidFill>
              </a:rPr>
              <a:t>CCD* </a:t>
            </a:r>
            <a:r>
              <a:rPr lang="ko-KR" altLang="en-US" dirty="0" smtClean="0">
                <a:solidFill>
                  <a:schemeClr val="bg1"/>
                </a:solidFill>
              </a:rPr>
              <a:t>구현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9714" y="4651985"/>
            <a:ext cx="368918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다트의 이동 속도를 계산하여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다음 프레임의 위치까지 </a:t>
            </a:r>
            <a:r>
              <a:rPr lang="en-US" altLang="ko-KR" sz="1400" dirty="0" err="1" smtClean="0"/>
              <a:t>Raycast</a:t>
            </a:r>
            <a:endParaRPr lang="en-US" altLang="ko-KR" sz="1400" dirty="0" smtClean="0"/>
          </a:p>
          <a:p>
            <a:pPr algn="ctr"/>
            <a:endParaRPr lang="en-US" altLang="ko-KR" sz="1400" dirty="0" smtClean="0"/>
          </a:p>
          <a:p>
            <a:pPr algn="ctr"/>
            <a:r>
              <a:rPr lang="en-US" altLang="ko-KR" sz="1400" dirty="0" smtClean="0"/>
              <a:t>+</a:t>
            </a:r>
          </a:p>
          <a:p>
            <a:pPr algn="ctr"/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충돌 </a:t>
            </a:r>
            <a:r>
              <a:rPr lang="ko-KR" altLang="en-US" sz="1400" dirty="0" err="1" smtClean="0"/>
              <a:t>감지시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Raycast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Hit point</a:t>
            </a:r>
            <a:r>
              <a:rPr lang="ko-KR" altLang="en-US" sz="1400" dirty="0" smtClean="0"/>
              <a:t>에 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다트의 끝부분을 위치시켜 보정</a:t>
            </a:r>
            <a:endParaRPr lang="en-US" altLang="ko-KR" sz="14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292" y="1526100"/>
            <a:ext cx="4344006" cy="184810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463" y="3860800"/>
            <a:ext cx="6489810" cy="2543676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403380" y="6317846"/>
            <a:ext cx="68451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dirty="0" smtClean="0">
                <a:solidFill>
                  <a:srgbClr val="8298AF"/>
                </a:solidFill>
              </a:rPr>
              <a:t>*CCD</a:t>
            </a:r>
            <a:r>
              <a:rPr lang="en-US" altLang="ko-KR" sz="1200" dirty="0" smtClean="0">
                <a:solidFill>
                  <a:srgbClr val="8298AF"/>
                </a:solidFill>
              </a:rPr>
              <a:t> (Continuous Collision Detection) </a:t>
            </a:r>
            <a:r>
              <a:rPr lang="en-US" altLang="ko-KR" sz="1200" dirty="0" smtClean="0">
                <a:solidFill>
                  <a:srgbClr val="8298AF"/>
                </a:solidFill>
              </a:rPr>
              <a:t>: </a:t>
            </a:r>
            <a:r>
              <a:rPr lang="ko-KR" altLang="en-US" sz="1200" dirty="0" smtClean="0">
                <a:solidFill>
                  <a:srgbClr val="8298AF"/>
                </a:solidFill>
              </a:rPr>
              <a:t>연속 충돌 검사</a:t>
            </a:r>
            <a:endParaRPr lang="ko-KR" altLang="en-US" sz="1200" dirty="0">
              <a:solidFill>
                <a:srgbClr val="8298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92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그림 그리기</a:t>
            </a:r>
            <a:r>
              <a:rPr lang="en-US" altLang="ko-KR" sz="2400" dirty="0" smtClean="0">
                <a:solidFill>
                  <a:schemeClr val="bg1"/>
                </a:solidFill>
              </a:rPr>
              <a:t>(</a:t>
            </a:r>
            <a:r>
              <a:rPr lang="ko-KR" altLang="en-US" sz="2400" dirty="0" smtClean="0">
                <a:solidFill>
                  <a:schemeClr val="bg1"/>
                </a:solidFill>
              </a:rPr>
              <a:t>제스처</a:t>
            </a:r>
            <a:r>
              <a:rPr lang="en-US" altLang="ko-KR" sz="2400" dirty="0" smtClean="0">
                <a:solidFill>
                  <a:schemeClr val="bg1"/>
                </a:solidFill>
              </a:rPr>
              <a:t>) </a:t>
            </a:r>
            <a:r>
              <a:rPr lang="ko-KR" altLang="en-US" sz="2400" dirty="0" smtClean="0">
                <a:solidFill>
                  <a:schemeClr val="bg1"/>
                </a:solidFill>
              </a:rPr>
              <a:t>인식 알고리즘 수정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시작점이 다른 문제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94953" y="2246927"/>
            <a:ext cx="31187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정답 좌표 배열의 시작 위치와 유저 입력의 시작 위치를 동기화하기 위해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가장 이상적인 시작 위치를 탐색</a:t>
            </a:r>
            <a:endParaRPr lang="en-US" altLang="ko-KR" sz="1400" dirty="0" smtClean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921278" y="3255373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방향이 다른 문제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33476" y="3953098"/>
            <a:ext cx="35654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등록된 정답 배열을 반대로 순회하는 추가 정답 배열도 검사하여 방향 의존성 제거</a:t>
            </a:r>
            <a:endParaRPr lang="ko-KR" altLang="en-US" sz="1400" dirty="0" smtClean="0"/>
          </a:p>
        </p:txBody>
      </p:sp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2054307" y="4773071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585278" y="5432705"/>
            <a:ext cx="2938060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인식률 크게 증가</a:t>
            </a:r>
            <a:endParaRPr lang="ko-KR" altLang="en-US" sz="1400" dirty="0" smtClean="0">
              <a:solidFill>
                <a:schemeClr val="bg1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7214012" y="2354245"/>
            <a:ext cx="1055706" cy="732082"/>
            <a:chOff x="5134930" y="3864198"/>
            <a:chExt cx="1936364" cy="1342776"/>
          </a:xfrm>
        </p:grpSpPr>
        <p:sp>
          <p:nvSpPr>
            <p:cNvPr id="3" name="이등변 삼각형 2"/>
            <p:cNvSpPr/>
            <p:nvPr/>
          </p:nvSpPr>
          <p:spPr>
            <a:xfrm>
              <a:off x="5593351" y="3910069"/>
              <a:ext cx="1432072" cy="1234544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6263516" y="386419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>
            <a:xfrm>
              <a:off x="6979552" y="5085850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5551273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5750031" y="4715357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603032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651317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6769299" y="4726541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651317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603032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218" name="Picture 2" descr="곡선 화살표 - 무료 화살개 아이콘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53955" flipH="1">
              <a:off x="5134930" y="4660441"/>
              <a:ext cx="541375" cy="541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모서리가 둥근 직사각형 41"/>
          <p:cNvSpPr/>
          <p:nvPr/>
        </p:nvSpPr>
        <p:spPr>
          <a:xfrm>
            <a:off x="7091741" y="1649642"/>
            <a:ext cx="1521606" cy="582287"/>
          </a:xfrm>
          <a:prstGeom prst="roundRect">
            <a:avLst>
              <a:gd name="adj" fmla="val 23810"/>
            </a:avLst>
          </a:prstGeom>
          <a:solidFill>
            <a:srgbClr val="526980"/>
          </a:solidFill>
          <a:ln>
            <a:solidFill>
              <a:srgbClr val="8298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</a:rPr>
              <a:t>정답 좌표 배열</a:t>
            </a:r>
            <a:r>
              <a:rPr lang="en-US" altLang="ko-KR" sz="1400" dirty="0" smtClean="0">
                <a:solidFill>
                  <a:schemeClr val="bg1"/>
                </a:solidFill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</a:rPr>
              <a:t>템플릿</a:t>
            </a:r>
            <a:r>
              <a:rPr lang="en-US" altLang="ko-KR" sz="1400" dirty="0" smtClean="0">
                <a:solidFill>
                  <a:schemeClr val="bg1"/>
                </a:solidFill>
              </a:rPr>
              <a:t>)</a:t>
            </a:r>
            <a:endParaRPr lang="ko-KR" altLang="en-US" sz="1400" dirty="0" smtClean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4764041" y="1649642"/>
            <a:ext cx="1521606" cy="582287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solidFill>
              <a:srgbClr val="8298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</a:rPr>
              <a:t>방향이 다름</a:t>
            </a:r>
            <a:endParaRPr lang="en-US" altLang="ko-KR" sz="1400" dirty="0" smtClean="0">
              <a:solidFill>
                <a:schemeClr val="bg1"/>
              </a:solidFill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4897177" y="2336276"/>
            <a:ext cx="1061960" cy="970649"/>
            <a:chOff x="5123459" y="3864198"/>
            <a:chExt cx="1947835" cy="1780353"/>
          </a:xfrm>
        </p:grpSpPr>
        <p:sp>
          <p:nvSpPr>
            <p:cNvPr id="67" name="이등변 삼각형 66"/>
            <p:cNvSpPr/>
            <p:nvPr/>
          </p:nvSpPr>
          <p:spPr>
            <a:xfrm>
              <a:off x="5593351" y="3910069"/>
              <a:ext cx="1432072" cy="1234544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/>
            <p:cNvSpPr/>
            <p:nvPr/>
          </p:nvSpPr>
          <p:spPr>
            <a:xfrm>
              <a:off x="6263516" y="386419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/>
            <p:cNvSpPr/>
            <p:nvPr/>
          </p:nvSpPr>
          <p:spPr>
            <a:xfrm>
              <a:off x="6979552" y="5085850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/>
            <p:cNvSpPr/>
            <p:nvPr/>
          </p:nvSpPr>
          <p:spPr>
            <a:xfrm>
              <a:off x="5551273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5750031" y="4715357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/>
            <p:cNvSpPr/>
            <p:nvPr/>
          </p:nvSpPr>
          <p:spPr>
            <a:xfrm>
              <a:off x="603032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/>
            <p:cNvSpPr/>
            <p:nvPr/>
          </p:nvSpPr>
          <p:spPr>
            <a:xfrm>
              <a:off x="651317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/>
            <p:cNvSpPr/>
            <p:nvPr/>
          </p:nvSpPr>
          <p:spPr>
            <a:xfrm>
              <a:off x="6769299" y="4726541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/>
            <p:cNvSpPr/>
            <p:nvPr/>
          </p:nvSpPr>
          <p:spPr>
            <a:xfrm>
              <a:off x="651317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/>
            <p:cNvSpPr/>
            <p:nvPr/>
          </p:nvSpPr>
          <p:spPr>
            <a:xfrm>
              <a:off x="603032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8" name="Picture 2" descr="곡선 화살표 - 무료 화살개 아이콘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01502" flipH="1" flipV="1">
              <a:off x="5123459" y="5001778"/>
              <a:ext cx="642773" cy="642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5" name="모서리가 둥근 직사각형 94"/>
          <p:cNvSpPr/>
          <p:nvPr/>
        </p:nvSpPr>
        <p:spPr>
          <a:xfrm>
            <a:off x="9429824" y="1649642"/>
            <a:ext cx="1521606" cy="582287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solidFill>
              <a:srgbClr val="8298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</a:rPr>
              <a:t>시작점이 다름</a:t>
            </a:r>
            <a:endParaRPr lang="en-US" altLang="ko-KR" sz="1400" dirty="0" smtClean="0">
              <a:solidFill>
                <a:schemeClr val="bg1"/>
              </a:solidFill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9776911" y="2357682"/>
            <a:ext cx="828716" cy="761828"/>
            <a:chOff x="5551273" y="3809639"/>
            <a:chExt cx="1520021" cy="1397335"/>
          </a:xfrm>
        </p:grpSpPr>
        <p:sp>
          <p:nvSpPr>
            <p:cNvPr id="99" name="이등변 삼각형 98"/>
            <p:cNvSpPr/>
            <p:nvPr/>
          </p:nvSpPr>
          <p:spPr>
            <a:xfrm>
              <a:off x="5593351" y="3910069"/>
              <a:ext cx="1432072" cy="1234544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/>
            <p:cNvSpPr/>
            <p:nvPr/>
          </p:nvSpPr>
          <p:spPr>
            <a:xfrm>
              <a:off x="6263516" y="386419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/>
            <p:cNvSpPr/>
            <p:nvPr/>
          </p:nvSpPr>
          <p:spPr>
            <a:xfrm>
              <a:off x="6979552" y="5085850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5551273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/>
            <p:cNvSpPr/>
            <p:nvPr/>
          </p:nvSpPr>
          <p:spPr>
            <a:xfrm>
              <a:off x="5750031" y="4715357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/>
            <p:cNvSpPr/>
            <p:nvPr/>
          </p:nvSpPr>
          <p:spPr>
            <a:xfrm>
              <a:off x="603032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6513179" y="4283838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/>
            <p:cNvSpPr/>
            <p:nvPr/>
          </p:nvSpPr>
          <p:spPr>
            <a:xfrm>
              <a:off x="6769299" y="4726541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/>
            <p:cNvSpPr/>
            <p:nvPr/>
          </p:nvSpPr>
          <p:spPr>
            <a:xfrm>
              <a:off x="651317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6030329" y="5115232"/>
              <a:ext cx="91742" cy="917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9" name="Picture 2" descr="곡선 화살표 - 무료 화살개 아이콘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001557" flipH="1">
              <a:off x="5588281" y="3809639"/>
              <a:ext cx="606273" cy="606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1" name="직사각형 110"/>
          <p:cNvSpPr/>
          <p:nvPr/>
        </p:nvSpPr>
        <p:spPr>
          <a:xfrm>
            <a:off x="706560" y="6113161"/>
            <a:ext cx="2695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인식 기준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30% </a:t>
            </a:r>
            <a:r>
              <a:rPr lang="ko-KR" altLang="en-US" sz="1400" dirty="0" smtClean="0"/>
              <a:t>→</a:t>
            </a:r>
            <a:r>
              <a:rPr lang="en-US" altLang="ko-KR" sz="1400" dirty="0" smtClean="0"/>
              <a:t> 92%</a:t>
            </a:r>
            <a:endParaRPr lang="en-US" altLang="ko-KR" sz="1400" dirty="0"/>
          </a:p>
        </p:txBody>
      </p:sp>
      <p:grpSp>
        <p:nvGrpSpPr>
          <p:cNvPr id="154" name="그룹 153"/>
          <p:cNvGrpSpPr/>
          <p:nvPr/>
        </p:nvGrpSpPr>
        <p:grpSpPr>
          <a:xfrm>
            <a:off x="5181965" y="4476469"/>
            <a:ext cx="5318749" cy="1511982"/>
            <a:chOff x="4492783" y="4650963"/>
            <a:chExt cx="5318749" cy="1511982"/>
          </a:xfrm>
        </p:grpSpPr>
        <p:grpSp>
          <p:nvGrpSpPr>
            <p:cNvPr id="114" name="그룹 113"/>
            <p:cNvGrpSpPr/>
            <p:nvPr/>
          </p:nvGrpSpPr>
          <p:grpSpPr>
            <a:xfrm>
              <a:off x="4601586" y="4650963"/>
              <a:ext cx="1340232" cy="1183952"/>
              <a:chOff x="5551273" y="3864198"/>
              <a:chExt cx="1520021" cy="1342776"/>
            </a:xfrm>
          </p:grpSpPr>
          <p:sp>
            <p:nvSpPr>
              <p:cNvPr id="115" name="이등변 삼각형 114"/>
              <p:cNvSpPr/>
              <p:nvPr/>
            </p:nvSpPr>
            <p:spPr>
              <a:xfrm>
                <a:off x="5593351" y="3910069"/>
                <a:ext cx="1432072" cy="123454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타원 115"/>
              <p:cNvSpPr/>
              <p:nvPr/>
            </p:nvSpPr>
            <p:spPr>
              <a:xfrm>
                <a:off x="6263516" y="386419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타원 116"/>
              <p:cNvSpPr/>
              <p:nvPr/>
            </p:nvSpPr>
            <p:spPr>
              <a:xfrm>
                <a:off x="6979552" y="5085850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타원 117"/>
              <p:cNvSpPr/>
              <p:nvPr/>
            </p:nvSpPr>
            <p:spPr>
              <a:xfrm>
                <a:off x="5551273" y="5115232"/>
                <a:ext cx="91742" cy="917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타원 118"/>
              <p:cNvSpPr/>
              <p:nvPr/>
            </p:nvSpPr>
            <p:spPr>
              <a:xfrm>
                <a:off x="5750031" y="4715357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타원 119"/>
              <p:cNvSpPr/>
              <p:nvPr/>
            </p:nvSpPr>
            <p:spPr>
              <a:xfrm>
                <a:off x="6030329" y="428383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타원 120"/>
              <p:cNvSpPr/>
              <p:nvPr/>
            </p:nvSpPr>
            <p:spPr>
              <a:xfrm>
                <a:off x="6513179" y="428383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타원 121"/>
              <p:cNvSpPr/>
              <p:nvPr/>
            </p:nvSpPr>
            <p:spPr>
              <a:xfrm>
                <a:off x="6769299" y="4726541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/>
              <p:cNvSpPr/>
              <p:nvPr/>
            </p:nvSpPr>
            <p:spPr>
              <a:xfrm>
                <a:off x="6513179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타원 123"/>
              <p:cNvSpPr/>
              <p:nvPr/>
            </p:nvSpPr>
            <p:spPr>
              <a:xfrm>
                <a:off x="6030329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6" name="그룹 125"/>
            <p:cNvGrpSpPr/>
            <p:nvPr/>
          </p:nvGrpSpPr>
          <p:grpSpPr>
            <a:xfrm>
              <a:off x="6365458" y="4650963"/>
              <a:ext cx="1340232" cy="1183952"/>
              <a:chOff x="5551273" y="3864198"/>
              <a:chExt cx="1520021" cy="1342776"/>
            </a:xfrm>
          </p:grpSpPr>
          <p:sp>
            <p:nvSpPr>
              <p:cNvPr id="127" name="이등변 삼각형 126"/>
              <p:cNvSpPr/>
              <p:nvPr/>
            </p:nvSpPr>
            <p:spPr>
              <a:xfrm>
                <a:off x="5593351" y="3910069"/>
                <a:ext cx="1432072" cy="123454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타원 127"/>
              <p:cNvSpPr/>
              <p:nvPr/>
            </p:nvSpPr>
            <p:spPr>
              <a:xfrm>
                <a:off x="6263516" y="386419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타원 128"/>
              <p:cNvSpPr/>
              <p:nvPr/>
            </p:nvSpPr>
            <p:spPr>
              <a:xfrm>
                <a:off x="6979552" y="5085850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타원 129"/>
              <p:cNvSpPr/>
              <p:nvPr/>
            </p:nvSpPr>
            <p:spPr>
              <a:xfrm>
                <a:off x="5551273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타원 130"/>
              <p:cNvSpPr/>
              <p:nvPr/>
            </p:nvSpPr>
            <p:spPr>
              <a:xfrm>
                <a:off x="5750031" y="4715357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타원 131"/>
              <p:cNvSpPr/>
              <p:nvPr/>
            </p:nvSpPr>
            <p:spPr>
              <a:xfrm>
                <a:off x="6030329" y="4283838"/>
                <a:ext cx="91742" cy="917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타원 132"/>
              <p:cNvSpPr/>
              <p:nvPr/>
            </p:nvSpPr>
            <p:spPr>
              <a:xfrm>
                <a:off x="6513179" y="428383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타원 133"/>
              <p:cNvSpPr/>
              <p:nvPr/>
            </p:nvSpPr>
            <p:spPr>
              <a:xfrm>
                <a:off x="6769299" y="4726541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타원 134"/>
              <p:cNvSpPr/>
              <p:nvPr/>
            </p:nvSpPr>
            <p:spPr>
              <a:xfrm>
                <a:off x="6513179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타원 135"/>
              <p:cNvSpPr/>
              <p:nvPr/>
            </p:nvSpPr>
            <p:spPr>
              <a:xfrm>
                <a:off x="6030329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7" name="그룹 136"/>
            <p:cNvGrpSpPr/>
            <p:nvPr/>
          </p:nvGrpSpPr>
          <p:grpSpPr>
            <a:xfrm>
              <a:off x="8471300" y="4650963"/>
              <a:ext cx="1340232" cy="1183952"/>
              <a:chOff x="5551273" y="3864198"/>
              <a:chExt cx="1520021" cy="1342776"/>
            </a:xfrm>
          </p:grpSpPr>
          <p:sp>
            <p:nvSpPr>
              <p:cNvPr id="138" name="이등변 삼각형 137"/>
              <p:cNvSpPr/>
              <p:nvPr/>
            </p:nvSpPr>
            <p:spPr>
              <a:xfrm>
                <a:off x="5593351" y="3910069"/>
                <a:ext cx="1432072" cy="123454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타원 138"/>
              <p:cNvSpPr/>
              <p:nvPr/>
            </p:nvSpPr>
            <p:spPr>
              <a:xfrm>
                <a:off x="6263516" y="386419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0" name="타원 139"/>
              <p:cNvSpPr/>
              <p:nvPr/>
            </p:nvSpPr>
            <p:spPr>
              <a:xfrm>
                <a:off x="6979552" y="5085850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타원 140"/>
              <p:cNvSpPr/>
              <p:nvPr/>
            </p:nvSpPr>
            <p:spPr>
              <a:xfrm>
                <a:off x="5551273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2" name="타원 141"/>
              <p:cNvSpPr/>
              <p:nvPr/>
            </p:nvSpPr>
            <p:spPr>
              <a:xfrm>
                <a:off x="5750031" y="4715357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타원 142"/>
              <p:cNvSpPr/>
              <p:nvPr/>
            </p:nvSpPr>
            <p:spPr>
              <a:xfrm>
                <a:off x="6030329" y="428383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타원 143"/>
              <p:cNvSpPr/>
              <p:nvPr/>
            </p:nvSpPr>
            <p:spPr>
              <a:xfrm>
                <a:off x="6513179" y="4283838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타원 144"/>
              <p:cNvSpPr/>
              <p:nvPr/>
            </p:nvSpPr>
            <p:spPr>
              <a:xfrm>
                <a:off x="6769299" y="4726541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6" name="타원 145"/>
              <p:cNvSpPr/>
              <p:nvPr/>
            </p:nvSpPr>
            <p:spPr>
              <a:xfrm>
                <a:off x="6513179" y="5115232"/>
                <a:ext cx="91742" cy="917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7" name="타원 146"/>
              <p:cNvSpPr/>
              <p:nvPr/>
            </p:nvSpPr>
            <p:spPr>
              <a:xfrm>
                <a:off x="6030329" y="5115232"/>
                <a:ext cx="91742" cy="91742"/>
              </a:xfrm>
              <a:prstGeom prst="ellipse">
                <a:avLst/>
              </a:prstGeom>
              <a:solidFill>
                <a:srgbClr val="5269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2" name="직사각형 111"/>
            <p:cNvSpPr/>
            <p:nvPr/>
          </p:nvSpPr>
          <p:spPr>
            <a:xfrm>
              <a:off x="4492783" y="5809009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 smtClean="0"/>
                <a:t>0</a:t>
              </a:r>
              <a:endParaRPr lang="ko-KR" altLang="en-US" sz="1400" dirty="0"/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6686270" y="5151430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 smtClean="0"/>
                <a:t>8</a:t>
              </a:r>
              <a:endParaRPr lang="ko-KR" altLang="en-US" sz="1400" dirty="0"/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7870050" y="5092974"/>
              <a:ext cx="31771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 smtClean="0"/>
                <a:t>…</a:t>
              </a:r>
              <a:endParaRPr lang="ko-KR" altLang="en-US" sz="1400" dirty="0"/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9171151" y="5855168"/>
              <a:ext cx="3834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 smtClean="0"/>
                <a:t>56</a:t>
              </a:r>
              <a:endParaRPr lang="ko-KR" altLang="en-US" sz="1400" dirty="0"/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4153988" y="5941344"/>
            <a:ext cx="7497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 smtClean="0"/>
              <a:t>좌표 배열을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칸씩 순회하며 유저 입력 배열과 가장 일치하는 최적의 시작 위치를 탐색하고</a:t>
            </a:r>
            <a:endParaRPr lang="en-US" altLang="ko-KR" sz="1400" dirty="0" smtClean="0"/>
          </a:p>
          <a:p>
            <a:pPr algn="ctr"/>
            <a:r>
              <a:rPr lang="ko-KR" altLang="en-US" sz="1400" dirty="0" err="1" smtClean="0"/>
              <a:t>정방향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+ </a:t>
            </a:r>
            <a:r>
              <a:rPr lang="ko-KR" altLang="en-US" sz="1400" dirty="0" smtClean="0"/>
              <a:t>역방향을 모두 검사</a:t>
            </a:r>
            <a:endParaRPr lang="en-US" altLang="ko-KR" sz="1400" dirty="0" smtClean="0"/>
          </a:p>
        </p:txBody>
      </p:sp>
      <p:pic>
        <p:nvPicPr>
          <p:cNvPr id="9220" name="Picture 4" descr="같지 않음 - 무료 교육개 아이콘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837" y="2488500"/>
            <a:ext cx="513821" cy="51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Picture 4" descr="같지 않음 - 무료 교육개 아이콘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530" y="2488500"/>
            <a:ext cx="513821" cy="51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8" name="직선 화살표 연결선 167"/>
          <p:cNvCxnSpPr/>
          <p:nvPr/>
        </p:nvCxnSpPr>
        <p:spPr>
          <a:xfrm>
            <a:off x="7829317" y="3530247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55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 smtClean="0">
                <a:solidFill>
                  <a:schemeClr val="bg1"/>
                </a:solidFill>
              </a:rPr>
              <a:t>아바타</a:t>
            </a:r>
            <a:r>
              <a:rPr lang="ko-KR" altLang="en-US" sz="2400" dirty="0" smtClean="0">
                <a:solidFill>
                  <a:schemeClr val="bg1"/>
                </a:solidFill>
              </a:rPr>
              <a:t> 손가락 디테일 구현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어색한 손가락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27189" y="2246927"/>
            <a:ext cx="3454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모든 손가락에 일관된 </a:t>
            </a:r>
            <a:r>
              <a:rPr lang="ko-KR" altLang="en-US" sz="1400" dirty="0" err="1" smtClean="0"/>
              <a:t>로직을</a:t>
            </a:r>
            <a:r>
              <a:rPr lang="ko-KR" altLang="en-US" sz="1400" dirty="0" smtClean="0"/>
              <a:t> 적용하면 부자연스럽게 구부러지는 문제</a:t>
            </a:r>
            <a:endParaRPr lang="en-US" altLang="ko-KR" sz="1400" dirty="0" smtClean="0"/>
          </a:p>
        </p:txBody>
      </p:sp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2054307" y="3058571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327191" y="3661601"/>
            <a:ext cx="3454234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높은 퀄리티의 손 시뮬레이션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60538" y="5326942"/>
            <a:ext cx="3187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err="1" smtClean="0"/>
              <a:t>Slerp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메소드로</a:t>
            </a:r>
            <a:r>
              <a:rPr lang="ko-KR" altLang="en-US" sz="1400" dirty="0" smtClean="0"/>
              <a:t> 부드러운 보간 처리</a:t>
            </a:r>
            <a:endParaRPr lang="en-US" altLang="ko-KR" sz="1400" dirty="0"/>
          </a:p>
        </p:txBody>
      </p:sp>
      <p:pic>
        <p:nvPicPr>
          <p:cNvPr id="93" name="그림 92"/>
          <p:cNvPicPr>
            <a:picLocks noChangeAspect="1"/>
          </p:cNvPicPr>
          <p:nvPr/>
        </p:nvPicPr>
        <p:blipFill rotWithShape="1">
          <a:blip r:embed="rId2"/>
          <a:srcRect l="37622" t="25368" r="834" b="1045"/>
          <a:stretch/>
        </p:blipFill>
        <p:spPr>
          <a:xfrm>
            <a:off x="4499748" y="3334796"/>
            <a:ext cx="3314700" cy="3187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4" name="직사각형 93"/>
          <p:cNvSpPr/>
          <p:nvPr/>
        </p:nvSpPr>
        <p:spPr>
          <a:xfrm>
            <a:off x="327191" y="4489171"/>
            <a:ext cx="34542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엄지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검지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중지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약지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소지의 각 관절에 모두 다른 </a:t>
            </a:r>
            <a:r>
              <a:rPr lang="ko-KR" altLang="en-US" sz="1400" dirty="0" err="1" smtClean="0"/>
              <a:t>회전값을</a:t>
            </a:r>
            <a:r>
              <a:rPr lang="ko-KR" altLang="en-US" sz="1400" dirty="0" smtClean="0"/>
              <a:t> 적용하고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수차례 테스트를 반복</a:t>
            </a:r>
            <a:endParaRPr lang="en-US" altLang="ko-KR" sz="1400" dirty="0" smtClean="0"/>
          </a:p>
        </p:txBody>
      </p:sp>
      <p:pic>
        <p:nvPicPr>
          <p:cNvPr id="110" name="그림 109"/>
          <p:cNvPicPr>
            <a:picLocks noChangeAspect="1"/>
          </p:cNvPicPr>
          <p:nvPr/>
        </p:nvPicPr>
        <p:blipFill rotWithShape="1">
          <a:blip r:embed="rId3"/>
          <a:srcRect t="41131"/>
          <a:stretch/>
        </p:blipFill>
        <p:spPr>
          <a:xfrm>
            <a:off x="8153400" y="2157954"/>
            <a:ext cx="3756026" cy="4340764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148" name="그림 147"/>
          <p:cNvPicPr>
            <a:picLocks noChangeAspect="1"/>
          </p:cNvPicPr>
          <p:nvPr/>
        </p:nvPicPr>
        <p:blipFill rotWithShape="1">
          <a:blip r:embed="rId3"/>
          <a:srcRect t="-35" b="93304"/>
          <a:stretch/>
        </p:blipFill>
        <p:spPr>
          <a:xfrm>
            <a:off x="8153400" y="1581150"/>
            <a:ext cx="3756026" cy="496322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53" name="직사각형 152"/>
          <p:cNvSpPr/>
          <p:nvPr/>
        </p:nvSpPr>
        <p:spPr>
          <a:xfrm>
            <a:off x="460538" y="5966023"/>
            <a:ext cx="3187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>
                <a:solidFill>
                  <a:srgbClr val="8298AF"/>
                </a:solidFill>
              </a:rPr>
              <a:t>직접 시연에서 확인해보세요</a:t>
            </a:r>
            <a:r>
              <a:rPr lang="en-US" altLang="ko-KR" sz="1400" dirty="0" smtClean="0">
                <a:solidFill>
                  <a:srgbClr val="8298AF"/>
                </a:solidFill>
              </a:rPr>
              <a:t>!</a:t>
            </a:r>
            <a:endParaRPr lang="en-US" altLang="ko-KR" sz="1400" dirty="0">
              <a:solidFill>
                <a:srgbClr val="8298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7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 smtClean="0">
                <a:solidFill>
                  <a:schemeClr val="bg1"/>
                </a:solidFill>
              </a:rPr>
              <a:t>아바타</a:t>
            </a:r>
            <a:r>
              <a:rPr lang="ko-KR" altLang="en-US" sz="2400" dirty="0" smtClean="0">
                <a:solidFill>
                  <a:schemeClr val="bg1"/>
                </a:solidFill>
              </a:rPr>
              <a:t> 교체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Final IK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27189" y="2246927"/>
            <a:ext cx="3454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smtClean="0"/>
              <a:t>여러 캐릭터의 본을 </a:t>
            </a:r>
            <a:r>
              <a:rPr lang="en-US" altLang="ko-KR" sz="1400" dirty="0" smtClean="0"/>
              <a:t>XR Rig</a:t>
            </a:r>
            <a:r>
              <a:rPr lang="ko-KR" altLang="en-US" sz="1400" dirty="0" smtClean="0"/>
              <a:t>가 참조할 수 있도록 돕는 컴포넌트 사용</a:t>
            </a:r>
            <a:endParaRPr lang="en-US" altLang="ko-KR" sz="1400" dirty="0" smtClean="0"/>
          </a:p>
        </p:txBody>
      </p:sp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2054307" y="4692972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548668" y="5444091"/>
            <a:ext cx="3011280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좋아하는 캐릭터 플레이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921278" y="3118680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bg1"/>
                </a:solidFill>
              </a:rPr>
              <a:t>AvatarManager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7189" y="3821219"/>
            <a:ext cx="3454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 err="1" smtClean="0"/>
              <a:t>싱글턴</a:t>
            </a:r>
            <a:r>
              <a:rPr lang="ko-KR" altLang="en-US" sz="1400" dirty="0" smtClean="0"/>
              <a:t> 클래스로 </a:t>
            </a:r>
            <a:r>
              <a:rPr lang="ko-KR" altLang="en-US" sz="1400" dirty="0" err="1" smtClean="0"/>
              <a:t>아바타</a:t>
            </a:r>
            <a:r>
              <a:rPr lang="ko-KR" altLang="en-US" sz="1400" dirty="0" smtClean="0"/>
              <a:t> 교체 오브젝트에 상호작용하면 캐릭터가 교체되도록 구현</a:t>
            </a:r>
            <a:endParaRPr lang="en-US" altLang="ko-KR" sz="1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64" y="1402929"/>
            <a:ext cx="6516009" cy="44392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2" name="직사각형 21"/>
          <p:cNvSpPr/>
          <p:nvPr/>
        </p:nvSpPr>
        <p:spPr>
          <a:xfrm>
            <a:off x="5813037" y="5966023"/>
            <a:ext cx="41108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ko-KR" altLang="en-US" sz="1400" smtClean="0">
                <a:solidFill>
                  <a:prstClr val="black"/>
                </a:solidFill>
              </a:rPr>
              <a:t>옷 갈아입기로 캐릭터 교체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511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689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 smtClean="0">
                <a:solidFill>
                  <a:schemeClr val="bg1"/>
                </a:solidFill>
              </a:rPr>
              <a:t>에셋</a:t>
            </a:r>
            <a:r>
              <a:rPr lang="ko-KR" altLang="en-US" sz="2400" dirty="0" smtClean="0">
                <a:solidFill>
                  <a:schemeClr val="bg1"/>
                </a:solidFill>
              </a:rPr>
              <a:t> 확보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246819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문제 해결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21278" y="1549202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에셋</a:t>
            </a:r>
            <a:r>
              <a:rPr lang="ko-KR" altLang="en-US" dirty="0" smtClean="0">
                <a:solidFill>
                  <a:schemeClr val="bg1"/>
                </a:solidFill>
              </a:rPr>
              <a:t> 선정 기준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27188" y="2246927"/>
            <a:ext cx="357171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기획 초기부터 확정된 </a:t>
            </a:r>
            <a:r>
              <a:rPr lang="en-US" altLang="ko-KR" sz="1400" dirty="0" smtClean="0"/>
              <a:t>‘</a:t>
            </a:r>
            <a:r>
              <a:rPr lang="ko-KR" altLang="en-US" sz="1400" dirty="0" smtClean="0"/>
              <a:t>겨울</a:t>
            </a:r>
            <a:r>
              <a:rPr lang="en-US" altLang="ko-KR" sz="1400" dirty="0" smtClean="0"/>
              <a:t>‘ </a:t>
            </a:r>
            <a:r>
              <a:rPr lang="ko-KR" altLang="en-US" sz="1400" dirty="0" smtClean="0"/>
              <a:t>분위기</a:t>
            </a:r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본이 제대로 분리된 </a:t>
            </a:r>
            <a:r>
              <a:rPr lang="ko-KR" altLang="en-US" sz="1400" dirty="0" smtClean="0"/>
              <a:t>완성된 캐릭터 모델</a:t>
            </a:r>
            <a:endParaRPr lang="en-US" altLang="ko-KR" sz="1400" dirty="0" smtClean="0"/>
          </a:p>
          <a:p>
            <a:r>
              <a:rPr lang="en-US" altLang="ko-KR" sz="1400" dirty="0" smtClean="0"/>
              <a:t>- VR </a:t>
            </a:r>
            <a:r>
              <a:rPr lang="ko-KR" altLang="en-US" sz="1400" dirty="0" smtClean="0"/>
              <a:t>최적화가 보증된 </a:t>
            </a:r>
            <a:r>
              <a:rPr lang="ko-KR" altLang="en-US" sz="1400" dirty="0" smtClean="0"/>
              <a:t>월드</a:t>
            </a:r>
            <a:endParaRPr lang="en-US" altLang="ko-KR" sz="1400" dirty="0" smtClean="0"/>
          </a:p>
        </p:txBody>
      </p:sp>
      <p:cxnSp>
        <p:nvCxnSpPr>
          <p:cNvPr id="77" name="직선 연결선 76"/>
          <p:cNvCxnSpPr/>
          <p:nvPr/>
        </p:nvCxnSpPr>
        <p:spPr>
          <a:xfrm>
            <a:off x="3898900" y="1447800"/>
            <a:ext cx="0" cy="4826000"/>
          </a:xfrm>
          <a:prstGeom prst="line">
            <a:avLst/>
          </a:prstGeom>
          <a:ln w="28575">
            <a:solidFill>
              <a:srgbClr val="8298A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2054307" y="4945040"/>
            <a:ext cx="0" cy="422851"/>
          </a:xfrm>
          <a:prstGeom prst="straightConnector1">
            <a:avLst/>
          </a:prstGeom>
          <a:ln w="76200">
            <a:solidFill>
              <a:srgbClr val="48A4F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548668" y="5444091"/>
            <a:ext cx="3011280" cy="705884"/>
          </a:xfrm>
          <a:prstGeom prst="roundRect">
            <a:avLst>
              <a:gd name="adj" fmla="val 23810"/>
            </a:avLst>
          </a:prstGeom>
          <a:solidFill>
            <a:srgbClr val="48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다양한 콘텐츠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921278" y="3188814"/>
            <a:ext cx="2266059" cy="544433"/>
          </a:xfrm>
          <a:prstGeom prst="roundRect">
            <a:avLst>
              <a:gd name="adj" fmla="val 23810"/>
            </a:avLst>
          </a:prstGeom>
          <a:solidFill>
            <a:srgbClr val="829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에셋</a:t>
            </a:r>
            <a:r>
              <a:rPr lang="ko-KR" altLang="en-US" dirty="0" smtClean="0">
                <a:solidFill>
                  <a:schemeClr val="bg1"/>
                </a:solidFill>
              </a:rPr>
              <a:t> 출처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7189" y="3875462"/>
            <a:ext cx="34542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smtClean="0"/>
              <a:t>Booth </a:t>
            </a:r>
            <a:r>
              <a:rPr lang="ko-KR" altLang="en-US" sz="1400" dirty="0" smtClean="0"/>
              <a:t>사이트의 </a:t>
            </a:r>
            <a:r>
              <a:rPr lang="en-US" altLang="ko-KR" sz="1400" dirty="0" err="1" smtClean="0"/>
              <a:t>VRChat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월드 </a:t>
            </a:r>
            <a:r>
              <a:rPr lang="ko-KR" altLang="en-US" sz="1400" dirty="0" err="1" smtClean="0"/>
              <a:t>프리팹</a:t>
            </a:r>
            <a:endParaRPr lang="en-US" altLang="ko-KR" sz="1400" dirty="0" smtClean="0"/>
          </a:p>
          <a:p>
            <a:pPr marL="742950" lvl="1" indent="-285750">
              <a:buFontTx/>
              <a:buChar char="-"/>
            </a:pPr>
            <a:r>
              <a:rPr lang="en-US" altLang="ko-KR" sz="1400" dirty="0" err="1" smtClean="0"/>
              <a:t>VRChat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관련 </a:t>
            </a:r>
            <a:r>
              <a:rPr lang="en-US" altLang="ko-KR" sz="1400" dirty="0" smtClean="0"/>
              <a:t>SDK </a:t>
            </a:r>
            <a:r>
              <a:rPr lang="ko-KR" altLang="en-US" sz="1400" dirty="0" smtClean="0"/>
              <a:t>제거</a:t>
            </a:r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 smtClean="0"/>
              <a:t>학원 지원 </a:t>
            </a:r>
            <a:r>
              <a:rPr lang="ko-KR" altLang="en-US" sz="1400" dirty="0" err="1" smtClean="0"/>
              <a:t>에셋</a:t>
            </a:r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en-US" altLang="ko-KR" sz="1400" dirty="0" err="1" smtClean="0"/>
              <a:t>ToonShader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git</a:t>
            </a:r>
            <a:r>
              <a:rPr lang="en-US" altLang="ko-KR" sz="1400" dirty="0" smtClean="0"/>
              <a:t> package) </a:t>
            </a:r>
            <a:r>
              <a:rPr lang="ko-KR" altLang="en-US" sz="1400" dirty="0" smtClean="0"/>
              <a:t>등</a:t>
            </a:r>
            <a:endParaRPr lang="en-US" altLang="ko-KR" sz="14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777" y="1615878"/>
            <a:ext cx="3589309" cy="207982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6" y="1615877"/>
            <a:ext cx="3588040" cy="20798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176" y="3990686"/>
            <a:ext cx="3588040" cy="204205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/>
          <a:srcRect l="11319"/>
          <a:stretch/>
        </p:blipFill>
        <p:spPr>
          <a:xfrm>
            <a:off x="7885778" y="3990686"/>
            <a:ext cx="3589309" cy="20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9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7025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324651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 smtClean="0">
                <a:solidFill>
                  <a:schemeClr val="bg1"/>
                </a:solidFill>
              </a:rPr>
              <a:t>AI </a:t>
            </a:r>
            <a:r>
              <a:rPr lang="ko-KR" altLang="en-US" sz="3200" dirty="0" smtClean="0">
                <a:solidFill>
                  <a:schemeClr val="bg1"/>
                </a:solidFill>
              </a:rPr>
              <a:t>사용 범위 </a:t>
            </a:r>
            <a:r>
              <a:rPr lang="en-US" altLang="ko-KR" sz="3200" dirty="0" smtClean="0">
                <a:solidFill>
                  <a:schemeClr val="bg1"/>
                </a:solidFill>
              </a:rPr>
              <a:t>|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066925" y="3636488"/>
            <a:ext cx="8000794" cy="544433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XR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툴킷</a:t>
            </a:r>
            <a:r>
              <a:rPr lang="ko-KR" altLang="en-US" sz="1400" dirty="0" smtClean="0">
                <a:solidFill>
                  <a:schemeClr val="tx1"/>
                </a:solidFill>
              </a:rPr>
              <a:t> 관련 컴포넌트 분석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2066925" y="4327345"/>
            <a:ext cx="8000794" cy="544433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직접 구상한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로직과</a:t>
            </a:r>
            <a:r>
              <a:rPr lang="ko-KR" altLang="en-US" sz="1400" dirty="0" smtClean="0">
                <a:solidFill>
                  <a:schemeClr val="tx1"/>
                </a:solidFill>
              </a:rPr>
              <a:t> 목표에 대한 검증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066925" y="5018202"/>
            <a:ext cx="8000794" cy="544433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복잡한 알고리즘의 초안 작성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066925" y="5709059"/>
            <a:ext cx="8000794" cy="544433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rgbClr val="48A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런타임 에러와 갖은 버그 디버깅 도움</a:t>
            </a:r>
          </a:p>
        </p:txBody>
      </p:sp>
    </p:spTree>
    <p:extLst>
      <p:ext uri="{BB962C8B-B14F-4D97-AF65-F5344CB8AC3E}">
        <p14:creationId xmlns:p14="http://schemas.microsoft.com/office/powerpoint/2010/main" val="86182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7025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324651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시연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04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67025" y="310020"/>
            <a:ext cx="9757265" cy="61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4382" y="88131"/>
            <a:ext cx="324651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 smtClean="0">
                <a:solidFill>
                  <a:schemeClr val="bg1"/>
                </a:solidFill>
              </a:rPr>
              <a:t>감사합니다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07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623</Words>
  <Application>Microsoft Office PowerPoint</Application>
  <PresentationFormat>와이드스크린</PresentationFormat>
  <Paragraphs>138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266</cp:revision>
  <dcterms:created xsi:type="dcterms:W3CDTF">2026-06-19T00:26:09Z</dcterms:created>
  <dcterms:modified xsi:type="dcterms:W3CDTF">2026-06-19T08:18:18Z</dcterms:modified>
</cp:coreProperties>
</file>